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9" r:id="rId3"/>
    <p:sldId id="257" r:id="rId4"/>
    <p:sldId id="258"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90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47472" y="411480"/>
            <a:ext cx="8229600" cy="1005840"/>
          </a:xfrm>
          <a:prstGeom prst="rect">
            <a:avLst/>
          </a:prstGeom>
          <a:noFill/>
          <a:ln/>
        </p:spPr>
        <p:txBody>
          <a:bodyPr wrap="square" lIns="0" tIns="0" rIns="0" bIns="0" rtlCol="0" anchor="ctr"/>
          <a:lstStyle/>
          <a:p>
            <a:pPr marL="0" indent="0">
              <a:buNone/>
            </a:pPr>
            <a:r>
              <a:rPr lang="en-US" sz="5200" b="1" dirty="0">
                <a:solidFill>
                  <a:srgbClr val="0F172A"/>
                </a:solidFill>
                <a:latin typeface="Calibri" pitchFamily="34" charset="0"/>
                <a:ea typeface="Calibri" pitchFamily="34" charset="-122"/>
                <a:cs typeface="Calibri" pitchFamily="34" charset="-120"/>
              </a:rPr>
              <a:t>File Downloader</a:t>
            </a:r>
            <a:endParaRPr lang="en-US" sz="5200" dirty="0"/>
          </a:p>
        </p:txBody>
      </p:sp>
      <p:sp>
        <p:nvSpPr>
          <p:cNvPr id="4" name="Text 2"/>
          <p:cNvSpPr/>
          <p:nvPr/>
        </p:nvSpPr>
        <p:spPr>
          <a:xfrm>
            <a:off x="347472" y="1417320"/>
            <a:ext cx="8229600" cy="384048"/>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C# · WinForms · .NET 8   —   async/await, OOP, multithreading</a:t>
            </a:r>
            <a:endParaRPr lang="en-US" sz="1500" dirty="0"/>
          </a:p>
        </p:txBody>
      </p:sp>
      <p:sp>
        <p:nvSpPr>
          <p:cNvPr id="5" name="Shape 3"/>
          <p:cNvSpPr/>
          <p:nvPr/>
        </p:nvSpPr>
        <p:spPr>
          <a:xfrm>
            <a:off x="347472" y="1920240"/>
            <a:ext cx="11521440" cy="16459"/>
          </a:xfrm>
          <a:prstGeom prst="rect">
            <a:avLst/>
          </a:prstGeom>
          <a:solidFill>
            <a:srgbClr val="E2E8F0"/>
          </a:solidFill>
          <a:ln w="12700">
            <a:solidFill>
              <a:srgbClr val="E2E8F0"/>
            </a:solidFill>
            <a:prstDash val="solid"/>
          </a:ln>
        </p:spPr>
        <p:txBody>
          <a:bodyPr/>
          <a:lstStyle/>
          <a:p>
            <a:endParaRPr lang="en-US"/>
          </a:p>
        </p:txBody>
      </p:sp>
      <p:sp>
        <p:nvSpPr>
          <p:cNvPr id="6" name="Text 4"/>
          <p:cNvSpPr/>
          <p:nvPr/>
        </p:nvSpPr>
        <p:spPr>
          <a:xfrm>
            <a:off x="347472" y="2103120"/>
            <a:ext cx="4572000" cy="274320"/>
          </a:xfrm>
          <a:prstGeom prst="rect">
            <a:avLst/>
          </a:prstGeom>
          <a:noFill/>
          <a:ln/>
        </p:spPr>
        <p:txBody>
          <a:bodyPr wrap="square" lIns="0" tIns="0" rIns="0" bIns="0" rtlCol="0" anchor="ctr"/>
          <a:lstStyle/>
          <a:p>
            <a:pPr marL="0" indent="0">
              <a:buNone/>
            </a:pPr>
            <a:r>
              <a:rPr lang="en-US" sz="1000" b="1" kern="0" spc="200" dirty="0">
                <a:solidFill>
                  <a:srgbClr val="2563EB"/>
                </a:solidFill>
                <a:latin typeface="Calibri" pitchFamily="34" charset="0"/>
                <a:ea typeface="Calibri" pitchFamily="34" charset="-122"/>
                <a:cs typeface="Calibri" pitchFamily="34" charset="-120"/>
              </a:rPr>
              <a:t>OOP CONCEPTS USED</a:t>
            </a:r>
            <a:endParaRPr lang="en-US" sz="1000" dirty="0"/>
          </a:p>
        </p:txBody>
      </p:sp>
      <p:sp>
        <p:nvSpPr>
          <p:cNvPr id="7" name="Shape 5"/>
          <p:cNvSpPr/>
          <p:nvPr/>
        </p:nvSpPr>
        <p:spPr>
          <a:xfrm>
            <a:off x="347472" y="2514600"/>
            <a:ext cx="2788920" cy="1691640"/>
          </a:xfrm>
          <a:prstGeom prst="rect">
            <a:avLst/>
          </a:prstGeom>
          <a:solidFill>
            <a:srgbClr val="FAFAFA"/>
          </a:solidFill>
          <a:ln w="12700">
            <a:solidFill>
              <a:srgbClr val="E2E8F0"/>
            </a:solidFill>
            <a:prstDash val="solid"/>
          </a:ln>
        </p:spPr>
        <p:txBody>
          <a:bodyPr/>
          <a:lstStyle/>
          <a:p>
            <a:endParaRPr lang="en-US"/>
          </a:p>
        </p:txBody>
      </p:sp>
      <p:sp>
        <p:nvSpPr>
          <p:cNvPr id="8" name="Shape 6"/>
          <p:cNvSpPr/>
          <p:nvPr/>
        </p:nvSpPr>
        <p:spPr>
          <a:xfrm>
            <a:off x="347472" y="2514600"/>
            <a:ext cx="50292" cy="1691640"/>
          </a:xfrm>
          <a:prstGeom prst="rect">
            <a:avLst/>
          </a:prstGeom>
          <a:solidFill>
            <a:srgbClr val="2563EB"/>
          </a:solidFill>
          <a:ln w="12700">
            <a:solidFill>
              <a:srgbClr val="2563EB"/>
            </a:solidFill>
            <a:prstDash val="solid"/>
          </a:ln>
        </p:spPr>
        <p:txBody>
          <a:bodyPr/>
          <a:lstStyle/>
          <a:p>
            <a:endParaRPr lang="en-US"/>
          </a:p>
        </p:txBody>
      </p:sp>
      <p:sp>
        <p:nvSpPr>
          <p:cNvPr id="9" name="Text 7"/>
          <p:cNvSpPr/>
          <p:nvPr/>
        </p:nvSpPr>
        <p:spPr>
          <a:xfrm>
            <a:off x="512064" y="2679192"/>
            <a:ext cx="2532888" cy="310896"/>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Interfaces</a:t>
            </a:r>
            <a:endParaRPr lang="en-US" sz="1400" dirty="0"/>
          </a:p>
        </p:txBody>
      </p:sp>
      <p:sp>
        <p:nvSpPr>
          <p:cNvPr id="10" name="Text 8"/>
          <p:cNvSpPr/>
          <p:nvPr/>
        </p:nvSpPr>
        <p:spPr>
          <a:xfrm>
            <a:off x="512064" y="3044952"/>
            <a:ext cx="2532888" cy="658368"/>
          </a:xfrm>
          <a:prstGeom prst="rect">
            <a:avLst/>
          </a:prstGeom>
          <a:noFill/>
          <a:ln/>
        </p:spPr>
        <p:txBody>
          <a:bodyPr wrap="square" lIns="0" tIns="0" rIns="0" bIns="0" rtlCol="0" anchor="ctr"/>
          <a:lstStyle/>
          <a:p>
            <a:pPr marL="0" indent="0">
              <a:buNone/>
            </a:pPr>
            <a:r>
              <a:rPr lang="en-US" sz="1100" dirty="0">
                <a:solidFill>
                  <a:srgbClr val="2563EB"/>
                </a:solidFill>
                <a:latin typeface="Consolas" pitchFamily="34" charset="0"/>
                <a:ea typeface="Consolas" pitchFamily="34" charset="-122"/>
                <a:cs typeface="Consolas" pitchFamily="34" charset="-120"/>
              </a:rPr>
              <a:t>IDownloadable</a:t>
            </a:r>
            <a:endParaRPr lang="en-US" sz="1100" dirty="0"/>
          </a:p>
          <a:p>
            <a:pPr marL="0" indent="0">
              <a:buNone/>
            </a:pPr>
            <a:r>
              <a:rPr lang="en-US" sz="1100" dirty="0">
                <a:solidFill>
                  <a:srgbClr val="2563EB"/>
                </a:solidFill>
                <a:latin typeface="Consolas" pitchFamily="34" charset="0"/>
                <a:ea typeface="Consolas" pitchFamily="34" charset="-122"/>
                <a:cs typeface="Consolas" pitchFamily="34" charset="-120"/>
              </a:rPr>
              <a:t>IProgressReporter</a:t>
            </a:r>
            <a:endParaRPr lang="en-US" sz="1100" dirty="0"/>
          </a:p>
        </p:txBody>
      </p:sp>
      <p:sp>
        <p:nvSpPr>
          <p:cNvPr id="11" name="Text 9"/>
          <p:cNvSpPr/>
          <p:nvPr/>
        </p:nvSpPr>
        <p:spPr>
          <a:xfrm>
            <a:off x="512064" y="3776472"/>
            <a:ext cx="2532888"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define the contract</a:t>
            </a:r>
            <a:endParaRPr lang="en-US" sz="1000" dirty="0"/>
          </a:p>
        </p:txBody>
      </p:sp>
      <p:sp>
        <p:nvSpPr>
          <p:cNvPr id="12" name="Shape 10"/>
          <p:cNvSpPr/>
          <p:nvPr/>
        </p:nvSpPr>
        <p:spPr>
          <a:xfrm>
            <a:off x="3227832" y="2514600"/>
            <a:ext cx="2788920" cy="1691640"/>
          </a:xfrm>
          <a:prstGeom prst="rect">
            <a:avLst/>
          </a:prstGeom>
          <a:solidFill>
            <a:srgbClr val="FAFAFA"/>
          </a:solidFill>
          <a:ln w="12700">
            <a:solidFill>
              <a:srgbClr val="E2E8F0"/>
            </a:solidFill>
            <a:prstDash val="solid"/>
          </a:ln>
        </p:spPr>
        <p:txBody>
          <a:bodyPr/>
          <a:lstStyle/>
          <a:p>
            <a:endParaRPr lang="en-US"/>
          </a:p>
        </p:txBody>
      </p:sp>
      <p:sp>
        <p:nvSpPr>
          <p:cNvPr id="13" name="Shape 11"/>
          <p:cNvSpPr/>
          <p:nvPr/>
        </p:nvSpPr>
        <p:spPr>
          <a:xfrm>
            <a:off x="3227832" y="2514600"/>
            <a:ext cx="50292" cy="1691640"/>
          </a:xfrm>
          <a:prstGeom prst="rect">
            <a:avLst/>
          </a:prstGeom>
          <a:solidFill>
            <a:srgbClr val="D97706"/>
          </a:solidFill>
          <a:ln w="12700">
            <a:solidFill>
              <a:srgbClr val="D97706"/>
            </a:solidFill>
            <a:prstDash val="solid"/>
          </a:ln>
        </p:spPr>
        <p:txBody>
          <a:bodyPr/>
          <a:lstStyle/>
          <a:p>
            <a:endParaRPr lang="en-US"/>
          </a:p>
        </p:txBody>
      </p:sp>
      <p:sp>
        <p:nvSpPr>
          <p:cNvPr id="14" name="Text 12"/>
          <p:cNvSpPr/>
          <p:nvPr/>
        </p:nvSpPr>
        <p:spPr>
          <a:xfrm>
            <a:off x="3392424" y="2679192"/>
            <a:ext cx="2532888" cy="310896"/>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Abstract Class</a:t>
            </a:r>
            <a:endParaRPr lang="en-US" sz="1400" dirty="0"/>
          </a:p>
        </p:txBody>
      </p:sp>
      <p:sp>
        <p:nvSpPr>
          <p:cNvPr id="15" name="Text 13"/>
          <p:cNvSpPr/>
          <p:nvPr/>
        </p:nvSpPr>
        <p:spPr>
          <a:xfrm>
            <a:off x="3392424" y="3044952"/>
            <a:ext cx="2532888" cy="658368"/>
          </a:xfrm>
          <a:prstGeom prst="rect">
            <a:avLst/>
          </a:prstGeom>
          <a:noFill/>
          <a:ln/>
        </p:spPr>
        <p:txBody>
          <a:bodyPr wrap="square" lIns="0" tIns="0" rIns="0" bIns="0" rtlCol="0" anchor="ctr"/>
          <a:lstStyle/>
          <a:p>
            <a:pPr marL="0" indent="0">
              <a:buNone/>
            </a:pPr>
            <a:r>
              <a:rPr lang="en-US" sz="1100" dirty="0">
                <a:solidFill>
                  <a:srgbClr val="D97706"/>
                </a:solidFill>
                <a:latin typeface="Consolas" pitchFamily="34" charset="0"/>
                <a:ea typeface="Consolas" pitchFamily="34" charset="-122"/>
                <a:cs typeface="Consolas" pitchFamily="34" charset="-120"/>
              </a:rPr>
              <a:t>DownloaderBase</a:t>
            </a:r>
            <a:endParaRPr lang="en-US" sz="1100" dirty="0"/>
          </a:p>
          <a:p>
            <a:pPr marL="0" indent="0">
              <a:buNone/>
            </a:pPr>
            <a:r>
              <a:rPr lang="en-US" sz="1100" dirty="0">
                <a:solidFill>
                  <a:srgbClr val="D97706"/>
                </a:solidFill>
                <a:latin typeface="Consolas" pitchFamily="34" charset="0"/>
                <a:ea typeface="Consolas" pitchFamily="34" charset="-122"/>
                <a:cs typeface="Consolas" pitchFamily="34" charset="-120"/>
              </a:rPr>
              <a:t>shared helper methods</a:t>
            </a:r>
            <a:endParaRPr lang="en-US" sz="1100" dirty="0"/>
          </a:p>
        </p:txBody>
      </p:sp>
      <p:sp>
        <p:nvSpPr>
          <p:cNvPr id="16" name="Text 14"/>
          <p:cNvSpPr/>
          <p:nvPr/>
        </p:nvSpPr>
        <p:spPr>
          <a:xfrm>
            <a:off x="3392424" y="3776472"/>
            <a:ext cx="2532888"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shared logic, no protocol</a:t>
            </a:r>
            <a:endParaRPr lang="en-US" sz="1000" dirty="0"/>
          </a:p>
        </p:txBody>
      </p:sp>
      <p:sp>
        <p:nvSpPr>
          <p:cNvPr id="17" name="Shape 15"/>
          <p:cNvSpPr/>
          <p:nvPr/>
        </p:nvSpPr>
        <p:spPr>
          <a:xfrm>
            <a:off x="6108192" y="2514600"/>
            <a:ext cx="2788920" cy="1691640"/>
          </a:xfrm>
          <a:prstGeom prst="rect">
            <a:avLst/>
          </a:prstGeom>
          <a:solidFill>
            <a:srgbClr val="FAFAFA"/>
          </a:solidFill>
          <a:ln w="12700">
            <a:solidFill>
              <a:srgbClr val="E2E8F0"/>
            </a:solidFill>
            <a:prstDash val="solid"/>
          </a:ln>
        </p:spPr>
        <p:txBody>
          <a:bodyPr/>
          <a:lstStyle/>
          <a:p>
            <a:endParaRPr lang="en-US"/>
          </a:p>
        </p:txBody>
      </p:sp>
      <p:sp>
        <p:nvSpPr>
          <p:cNvPr id="18" name="Shape 16"/>
          <p:cNvSpPr/>
          <p:nvPr/>
        </p:nvSpPr>
        <p:spPr>
          <a:xfrm>
            <a:off x="6108192" y="2514600"/>
            <a:ext cx="50292" cy="1691640"/>
          </a:xfrm>
          <a:prstGeom prst="rect">
            <a:avLst/>
          </a:prstGeom>
          <a:solidFill>
            <a:srgbClr val="059669"/>
          </a:solidFill>
          <a:ln w="12700">
            <a:solidFill>
              <a:srgbClr val="059669"/>
            </a:solidFill>
            <a:prstDash val="solid"/>
          </a:ln>
        </p:spPr>
        <p:txBody>
          <a:bodyPr/>
          <a:lstStyle/>
          <a:p>
            <a:endParaRPr lang="en-US"/>
          </a:p>
        </p:txBody>
      </p:sp>
      <p:sp>
        <p:nvSpPr>
          <p:cNvPr id="19" name="Text 17"/>
          <p:cNvSpPr/>
          <p:nvPr/>
        </p:nvSpPr>
        <p:spPr>
          <a:xfrm>
            <a:off x="6272784" y="2679192"/>
            <a:ext cx="2532888" cy="310896"/>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Inheritance</a:t>
            </a:r>
            <a:endParaRPr lang="en-US" sz="1400" dirty="0"/>
          </a:p>
        </p:txBody>
      </p:sp>
      <p:sp>
        <p:nvSpPr>
          <p:cNvPr id="20" name="Text 18"/>
          <p:cNvSpPr/>
          <p:nvPr/>
        </p:nvSpPr>
        <p:spPr>
          <a:xfrm>
            <a:off x="6272784" y="3044952"/>
            <a:ext cx="2532888" cy="658368"/>
          </a:xfrm>
          <a:prstGeom prst="rect">
            <a:avLst/>
          </a:prstGeom>
          <a:noFill/>
          <a:ln/>
        </p:spPr>
        <p:txBody>
          <a:bodyPr wrap="square" lIns="0" tIns="0" rIns="0" bIns="0" rtlCol="0" anchor="ctr"/>
          <a:lstStyle/>
          <a:p>
            <a:pPr marL="0" indent="0">
              <a:buNone/>
            </a:pPr>
            <a:r>
              <a:rPr lang="en-US" sz="1100" dirty="0">
                <a:solidFill>
                  <a:srgbClr val="059669"/>
                </a:solidFill>
                <a:latin typeface="Consolas" pitchFamily="34" charset="0"/>
                <a:ea typeface="Consolas" pitchFamily="34" charset="-122"/>
                <a:cs typeface="Consolas" pitchFamily="34" charset="-120"/>
              </a:rPr>
              <a:t>HttpFileDownloader</a:t>
            </a:r>
            <a:endParaRPr lang="en-US" sz="1100" dirty="0"/>
          </a:p>
          <a:p>
            <a:pPr marL="0" indent="0">
              <a:buNone/>
            </a:pPr>
            <a:r>
              <a:rPr lang="en-US" sz="1100" dirty="0">
                <a:solidFill>
                  <a:srgbClr val="059669"/>
                </a:solidFill>
                <a:latin typeface="Consolas" pitchFamily="34" charset="0"/>
                <a:ea typeface="Consolas" pitchFamily="34" charset="-122"/>
                <a:cs typeface="Consolas" pitchFamily="34" charset="-120"/>
              </a:rPr>
              <a:t>extends DownloaderBase</a:t>
            </a:r>
            <a:endParaRPr lang="en-US" sz="1100" dirty="0"/>
          </a:p>
        </p:txBody>
      </p:sp>
      <p:sp>
        <p:nvSpPr>
          <p:cNvPr id="21" name="Text 19"/>
          <p:cNvSpPr/>
          <p:nvPr/>
        </p:nvSpPr>
        <p:spPr>
          <a:xfrm>
            <a:off x="6272784" y="3776472"/>
            <a:ext cx="2532888"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one concrete impl</a:t>
            </a:r>
            <a:endParaRPr lang="en-US" sz="1000" dirty="0"/>
          </a:p>
        </p:txBody>
      </p:sp>
      <p:sp>
        <p:nvSpPr>
          <p:cNvPr id="22" name="Shape 20"/>
          <p:cNvSpPr/>
          <p:nvPr/>
        </p:nvSpPr>
        <p:spPr>
          <a:xfrm>
            <a:off x="8988552" y="2514600"/>
            <a:ext cx="2788920" cy="1691640"/>
          </a:xfrm>
          <a:prstGeom prst="rect">
            <a:avLst/>
          </a:prstGeom>
          <a:solidFill>
            <a:srgbClr val="FAFAFA"/>
          </a:solidFill>
          <a:ln w="12700">
            <a:solidFill>
              <a:srgbClr val="E2E8F0"/>
            </a:solidFill>
            <a:prstDash val="solid"/>
          </a:ln>
        </p:spPr>
        <p:txBody>
          <a:bodyPr/>
          <a:lstStyle/>
          <a:p>
            <a:endParaRPr lang="en-US"/>
          </a:p>
        </p:txBody>
      </p:sp>
      <p:sp>
        <p:nvSpPr>
          <p:cNvPr id="23" name="Shape 21"/>
          <p:cNvSpPr/>
          <p:nvPr/>
        </p:nvSpPr>
        <p:spPr>
          <a:xfrm>
            <a:off x="8988552" y="2514600"/>
            <a:ext cx="50292" cy="1691640"/>
          </a:xfrm>
          <a:prstGeom prst="rect">
            <a:avLst/>
          </a:prstGeom>
          <a:solidFill>
            <a:srgbClr val="7C3AED"/>
          </a:solidFill>
          <a:ln w="12700">
            <a:solidFill>
              <a:srgbClr val="7C3AED"/>
            </a:solidFill>
            <a:prstDash val="solid"/>
          </a:ln>
        </p:spPr>
        <p:txBody>
          <a:bodyPr/>
          <a:lstStyle/>
          <a:p>
            <a:endParaRPr lang="en-US"/>
          </a:p>
        </p:txBody>
      </p:sp>
      <p:sp>
        <p:nvSpPr>
          <p:cNvPr id="24" name="Text 22"/>
          <p:cNvSpPr/>
          <p:nvPr/>
        </p:nvSpPr>
        <p:spPr>
          <a:xfrm>
            <a:off x="9153144" y="2679192"/>
            <a:ext cx="2532888" cy="310896"/>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Encapsulation</a:t>
            </a:r>
            <a:endParaRPr lang="en-US" sz="1400" dirty="0"/>
          </a:p>
        </p:txBody>
      </p:sp>
      <p:sp>
        <p:nvSpPr>
          <p:cNvPr id="25" name="Text 23"/>
          <p:cNvSpPr/>
          <p:nvPr/>
        </p:nvSpPr>
        <p:spPr>
          <a:xfrm>
            <a:off x="9153144" y="3044952"/>
            <a:ext cx="2532888" cy="658368"/>
          </a:xfrm>
          <a:prstGeom prst="rect">
            <a:avLst/>
          </a:prstGeom>
          <a:noFill/>
          <a:ln/>
        </p:spPr>
        <p:txBody>
          <a:bodyPr wrap="square" lIns="0" tIns="0" rIns="0" bIns="0" rtlCol="0" anchor="ctr"/>
          <a:lstStyle/>
          <a:p>
            <a:pPr marL="0" indent="0">
              <a:buNone/>
            </a:pPr>
            <a:r>
              <a:rPr lang="en-US" sz="1100" dirty="0">
                <a:solidFill>
                  <a:srgbClr val="7C3AED"/>
                </a:solidFill>
                <a:latin typeface="Consolas" pitchFamily="34" charset="0"/>
                <a:ea typeface="Consolas" pitchFamily="34" charset="-122"/>
                <a:cs typeface="Consolas" pitchFamily="34" charset="-120"/>
              </a:rPr>
              <a:t>DownloadItem owns</a:t>
            </a:r>
            <a:endParaRPr lang="en-US" sz="1100" dirty="0"/>
          </a:p>
          <a:p>
            <a:pPr marL="0" indent="0">
              <a:buNone/>
            </a:pPr>
            <a:r>
              <a:rPr lang="en-US" sz="1100" dirty="0">
                <a:solidFill>
                  <a:srgbClr val="7C3AED"/>
                </a:solidFill>
                <a:latin typeface="Consolas" pitchFamily="34" charset="0"/>
                <a:ea typeface="Consolas" pitchFamily="34" charset="-122"/>
                <a:cs typeface="Consolas" pitchFamily="34" charset="-120"/>
              </a:rPr>
              <a:t>its state + speed</a:t>
            </a:r>
            <a:endParaRPr lang="en-US" sz="1100" dirty="0"/>
          </a:p>
        </p:txBody>
      </p:sp>
      <p:sp>
        <p:nvSpPr>
          <p:cNvPr id="26" name="Text 24"/>
          <p:cNvSpPr/>
          <p:nvPr/>
        </p:nvSpPr>
        <p:spPr>
          <a:xfrm>
            <a:off x="9153144" y="3776472"/>
            <a:ext cx="2532888"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private setters</a:t>
            </a:r>
            <a:endParaRPr lang="en-US" sz="1000" dirty="0"/>
          </a:p>
        </p:txBody>
      </p:sp>
      <p:sp>
        <p:nvSpPr>
          <p:cNvPr id="27" name="Shape 25"/>
          <p:cNvSpPr/>
          <p:nvPr/>
        </p:nvSpPr>
        <p:spPr>
          <a:xfrm>
            <a:off x="347472" y="6126480"/>
            <a:ext cx="2743200" cy="347472"/>
          </a:xfrm>
          <a:prstGeom prst="roundRect">
            <a:avLst>
              <a:gd name="adj" fmla="val 21053"/>
            </a:avLst>
          </a:prstGeom>
          <a:solidFill>
            <a:srgbClr val="F1F5F9"/>
          </a:solidFill>
          <a:ln w="12700">
            <a:solidFill>
              <a:srgbClr val="E2E8F0"/>
            </a:solidFill>
            <a:prstDash val="solid"/>
          </a:ln>
        </p:spPr>
        <p:txBody>
          <a:bodyPr/>
          <a:lstStyle/>
          <a:p>
            <a:endParaRPr lang="en-US"/>
          </a:p>
        </p:txBody>
      </p:sp>
      <p:sp>
        <p:nvSpPr>
          <p:cNvPr id="28" name="Text 26"/>
          <p:cNvSpPr/>
          <p:nvPr/>
        </p:nvSpPr>
        <p:spPr>
          <a:xfrm>
            <a:off x="484632" y="6126480"/>
            <a:ext cx="2468880" cy="347472"/>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async / await</a:t>
            </a:r>
            <a:endParaRPr lang="en-US" sz="1000" dirty="0"/>
          </a:p>
        </p:txBody>
      </p:sp>
      <p:sp>
        <p:nvSpPr>
          <p:cNvPr id="29" name="Shape 27"/>
          <p:cNvSpPr/>
          <p:nvPr/>
        </p:nvSpPr>
        <p:spPr>
          <a:xfrm>
            <a:off x="3218688" y="6126480"/>
            <a:ext cx="2743200" cy="347472"/>
          </a:xfrm>
          <a:prstGeom prst="roundRect">
            <a:avLst>
              <a:gd name="adj" fmla="val 21053"/>
            </a:avLst>
          </a:prstGeom>
          <a:solidFill>
            <a:srgbClr val="F1F5F9"/>
          </a:solidFill>
          <a:ln w="12700">
            <a:solidFill>
              <a:srgbClr val="E2E8F0"/>
            </a:solidFill>
            <a:prstDash val="solid"/>
          </a:ln>
        </p:spPr>
        <p:txBody>
          <a:bodyPr/>
          <a:lstStyle/>
          <a:p>
            <a:endParaRPr lang="en-US"/>
          </a:p>
        </p:txBody>
      </p:sp>
      <p:sp>
        <p:nvSpPr>
          <p:cNvPr id="30" name="Text 28"/>
          <p:cNvSpPr/>
          <p:nvPr/>
        </p:nvSpPr>
        <p:spPr>
          <a:xfrm>
            <a:off x="3355848" y="6126480"/>
            <a:ext cx="2468880" cy="347472"/>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SemaphoreSlim — 3 concurrent</a:t>
            </a:r>
            <a:endParaRPr lang="en-US" sz="1000" dirty="0"/>
          </a:p>
        </p:txBody>
      </p:sp>
      <p:sp>
        <p:nvSpPr>
          <p:cNvPr id="31" name="Shape 29"/>
          <p:cNvSpPr/>
          <p:nvPr/>
        </p:nvSpPr>
        <p:spPr>
          <a:xfrm>
            <a:off x="6089904" y="6126480"/>
            <a:ext cx="2743200" cy="347472"/>
          </a:xfrm>
          <a:prstGeom prst="roundRect">
            <a:avLst>
              <a:gd name="adj" fmla="val 21053"/>
            </a:avLst>
          </a:prstGeom>
          <a:solidFill>
            <a:srgbClr val="F1F5F9"/>
          </a:solidFill>
          <a:ln w="12700">
            <a:solidFill>
              <a:srgbClr val="E2E8F0"/>
            </a:solidFill>
            <a:prstDash val="solid"/>
          </a:ln>
        </p:spPr>
        <p:txBody>
          <a:bodyPr/>
          <a:lstStyle/>
          <a:p>
            <a:endParaRPr lang="en-US"/>
          </a:p>
        </p:txBody>
      </p:sp>
      <p:sp>
        <p:nvSpPr>
          <p:cNvPr id="32" name="Text 30"/>
          <p:cNvSpPr/>
          <p:nvPr/>
        </p:nvSpPr>
        <p:spPr>
          <a:xfrm>
            <a:off x="6227064" y="6126480"/>
            <a:ext cx="2468880" cy="347472"/>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CancellationToken</a:t>
            </a:r>
            <a:endParaRPr lang="en-US" sz="1000" dirty="0"/>
          </a:p>
        </p:txBody>
      </p:sp>
      <p:sp>
        <p:nvSpPr>
          <p:cNvPr id="33" name="Shape 31"/>
          <p:cNvSpPr/>
          <p:nvPr/>
        </p:nvSpPr>
        <p:spPr>
          <a:xfrm>
            <a:off x="8961120" y="6126480"/>
            <a:ext cx="2743200" cy="347472"/>
          </a:xfrm>
          <a:prstGeom prst="roundRect">
            <a:avLst>
              <a:gd name="adj" fmla="val 21053"/>
            </a:avLst>
          </a:prstGeom>
          <a:solidFill>
            <a:srgbClr val="F1F5F9"/>
          </a:solidFill>
          <a:ln w="12700">
            <a:solidFill>
              <a:srgbClr val="E2E8F0"/>
            </a:solidFill>
            <a:prstDash val="solid"/>
          </a:ln>
        </p:spPr>
        <p:txBody>
          <a:bodyPr/>
          <a:lstStyle/>
          <a:p>
            <a:endParaRPr lang="en-US"/>
          </a:p>
        </p:txBody>
      </p:sp>
      <p:sp>
        <p:nvSpPr>
          <p:cNvPr id="34" name="Text 32"/>
          <p:cNvSpPr/>
          <p:nvPr/>
        </p:nvSpPr>
        <p:spPr>
          <a:xfrm>
            <a:off x="9098280" y="6126480"/>
            <a:ext cx="2468880" cy="347472"/>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BeginInvoke (thread-safe UI)</a:t>
            </a:r>
            <a:endParaRPr lang="en-US" sz="1000" dirty="0"/>
          </a:p>
        </p:txBody>
      </p:sp>
      <p:sp>
        <p:nvSpPr>
          <p:cNvPr id="35" name="Text 33"/>
          <p:cNvSpPr/>
          <p:nvPr/>
        </p:nvSpPr>
        <p:spPr>
          <a:xfrm>
            <a:off x="10515600" y="6492240"/>
            <a:ext cx="1463040" cy="256032"/>
          </a:xfrm>
          <a:prstGeom prst="rect">
            <a:avLst/>
          </a:prstGeom>
          <a:noFill/>
          <a:ln/>
        </p:spPr>
        <p:txBody>
          <a:bodyPr wrap="square" lIns="0" tIns="0" rIns="0" bIns="0" rtlCol="0" anchor="ctr"/>
          <a:lstStyle/>
          <a:p>
            <a:pPr marL="0" indent="0" algn="r">
              <a:buNone/>
            </a:pPr>
            <a:r>
              <a:rPr lang="en-US" sz="1000" dirty="0">
                <a:solidFill>
                  <a:srgbClr val="E2E8F0"/>
                </a:solidFill>
                <a:latin typeface="Calibri" pitchFamily="34" charset="0"/>
                <a:ea typeface="Calibri" pitchFamily="34" charset="-122"/>
                <a:cs typeface="Calibri" pitchFamily="34" charset="-120"/>
              </a:rPr>
              <a:t>Joel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ml_diagra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347472" y="256032"/>
            <a:ext cx="11521440" cy="658368"/>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Code Walkthrough</a:t>
            </a:r>
            <a:endParaRPr lang="en-US" sz="3600" dirty="0"/>
          </a:p>
        </p:txBody>
      </p:sp>
      <p:sp>
        <p:nvSpPr>
          <p:cNvPr id="4" name="Shape 2"/>
          <p:cNvSpPr/>
          <p:nvPr/>
        </p:nvSpPr>
        <p:spPr>
          <a:xfrm>
            <a:off x="347472" y="960120"/>
            <a:ext cx="11521440" cy="16459"/>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347472" y="1143000"/>
            <a:ext cx="5577840" cy="274320"/>
          </a:xfrm>
          <a:prstGeom prst="rect">
            <a:avLst/>
          </a:prstGeom>
          <a:noFill/>
          <a:ln/>
        </p:spPr>
        <p:txBody>
          <a:bodyPr wrap="square" lIns="0" tIns="0" rIns="0" bIns="0"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Interfaces: IDownloadable and IProgressReporter</a:t>
            </a:r>
            <a:endParaRPr lang="en-US" sz="1050" dirty="0"/>
          </a:p>
        </p:txBody>
      </p:sp>
      <p:sp>
        <p:nvSpPr>
          <p:cNvPr id="6" name="Shape 4"/>
          <p:cNvSpPr/>
          <p:nvPr/>
        </p:nvSpPr>
        <p:spPr>
          <a:xfrm>
            <a:off x="347472" y="1435608"/>
            <a:ext cx="5577840" cy="777240"/>
          </a:xfrm>
          <a:prstGeom prst="rect">
            <a:avLst/>
          </a:prstGeom>
          <a:solidFill>
            <a:srgbClr val="1E293B"/>
          </a:solidFill>
          <a:ln w="12700">
            <a:solidFill>
              <a:srgbClr val="334155"/>
            </a:solidFill>
            <a:prstDash val="solid"/>
          </a:ln>
        </p:spPr>
        <p:txBody>
          <a:bodyPr/>
          <a:lstStyle/>
          <a:p>
            <a:endParaRPr lang="en-US"/>
          </a:p>
        </p:txBody>
      </p:sp>
      <p:sp>
        <p:nvSpPr>
          <p:cNvPr id="7" name="Text 5"/>
          <p:cNvSpPr/>
          <p:nvPr/>
        </p:nvSpPr>
        <p:spPr>
          <a:xfrm>
            <a:off x="475488" y="1490472"/>
            <a:ext cx="5349240" cy="667512"/>
          </a:xfrm>
          <a:prstGeom prst="rect">
            <a:avLst/>
          </a:prstGeom>
          <a:noFill/>
          <a:ln/>
        </p:spPr>
        <p:txBody>
          <a:bodyPr wrap="square" lIns="0" tIns="0" rIns="0" bIns="0" rtlCol="0" anchor="t"/>
          <a:lstStyle/>
          <a:p>
            <a:pPr marL="0" indent="0">
              <a:buNone/>
            </a:pPr>
            <a:r>
              <a:rPr lang="en-US" sz="900" dirty="0">
                <a:solidFill>
                  <a:srgbClr val="7DD3FC"/>
                </a:solidFill>
                <a:latin typeface="Consolas" pitchFamily="34" charset="0"/>
                <a:ea typeface="Consolas" pitchFamily="34" charset="-122"/>
                <a:cs typeface="Consolas" pitchFamily="34" charset="-120"/>
              </a:rPr>
              <a:t>interface IDownloadable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Task DownloadAsync(CancellationToken token);</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a:t>
            </a:r>
            <a:endParaRPr lang="en-US" sz="900" dirty="0"/>
          </a:p>
        </p:txBody>
      </p:sp>
      <p:sp>
        <p:nvSpPr>
          <p:cNvPr id="8" name="Text 6"/>
          <p:cNvSpPr/>
          <p:nvPr/>
        </p:nvSpPr>
        <p:spPr>
          <a:xfrm>
            <a:off x="347472" y="2240280"/>
            <a:ext cx="5577840" cy="45720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These are basically rule books for the code. IDownloadable says any downloader has to know a URL and be able to download it. IProgressReporter says anything tracking a download has to be able to receive updates. Because every class follows these rules, I can swap one out later without breaking anything else in the app.</a:t>
            </a:r>
            <a:endParaRPr lang="en-US" sz="1050" dirty="0"/>
          </a:p>
        </p:txBody>
      </p:sp>
      <p:sp>
        <p:nvSpPr>
          <p:cNvPr id="9" name="Text 7"/>
          <p:cNvSpPr/>
          <p:nvPr/>
        </p:nvSpPr>
        <p:spPr>
          <a:xfrm>
            <a:off x="347472" y="2788920"/>
            <a:ext cx="5577840" cy="274320"/>
          </a:xfrm>
          <a:prstGeom prst="rect">
            <a:avLst/>
          </a:prstGeom>
          <a:noFill/>
          <a:ln/>
        </p:spPr>
        <p:txBody>
          <a:bodyPr wrap="square" lIns="0" tIns="0" rIns="0" bIns="0" rtlCol="0" anchor="ctr"/>
          <a:lstStyle/>
          <a:p>
            <a:pPr marL="0" indent="0">
              <a:buNone/>
            </a:pPr>
            <a:r>
              <a:rPr lang="en-US" sz="1050" b="1" dirty="0">
                <a:solidFill>
                  <a:srgbClr val="D97706"/>
                </a:solidFill>
                <a:latin typeface="Calibri" pitchFamily="34" charset="0"/>
                <a:ea typeface="Calibri" pitchFamily="34" charset="-122"/>
                <a:cs typeface="Calibri" pitchFamily="34" charset="-120"/>
              </a:rPr>
              <a:t>Abstract Class: DownloaderBase</a:t>
            </a:r>
            <a:endParaRPr lang="en-US" sz="1050" dirty="0"/>
          </a:p>
        </p:txBody>
      </p:sp>
      <p:sp>
        <p:nvSpPr>
          <p:cNvPr id="10" name="Shape 8"/>
          <p:cNvSpPr/>
          <p:nvPr/>
        </p:nvSpPr>
        <p:spPr>
          <a:xfrm>
            <a:off x="347472" y="3081528"/>
            <a:ext cx="5577840" cy="777240"/>
          </a:xfrm>
          <a:prstGeom prst="rect">
            <a:avLst/>
          </a:prstGeom>
          <a:solidFill>
            <a:srgbClr val="1E293B"/>
          </a:solidFill>
          <a:ln w="12700">
            <a:solidFill>
              <a:srgbClr val="334155"/>
            </a:solidFill>
            <a:prstDash val="solid"/>
          </a:ln>
        </p:spPr>
        <p:txBody>
          <a:bodyPr/>
          <a:lstStyle/>
          <a:p>
            <a:endParaRPr lang="en-US"/>
          </a:p>
        </p:txBody>
      </p:sp>
      <p:sp>
        <p:nvSpPr>
          <p:cNvPr id="11" name="Text 9"/>
          <p:cNvSpPr/>
          <p:nvPr/>
        </p:nvSpPr>
        <p:spPr>
          <a:xfrm>
            <a:off x="475488" y="3136392"/>
            <a:ext cx="5349240" cy="667512"/>
          </a:xfrm>
          <a:prstGeom prst="rect">
            <a:avLst/>
          </a:prstGeom>
          <a:noFill/>
          <a:ln/>
        </p:spPr>
        <p:txBody>
          <a:bodyPr wrap="square" lIns="0" tIns="0" rIns="0" bIns="0" rtlCol="0" anchor="t"/>
          <a:lstStyle/>
          <a:p>
            <a:pPr marL="0" indent="0">
              <a:buNone/>
            </a:pPr>
            <a:r>
              <a:rPr lang="en-US" sz="900" dirty="0">
                <a:solidFill>
                  <a:srgbClr val="7DD3FC"/>
                </a:solidFill>
                <a:latin typeface="Consolas" pitchFamily="34" charset="0"/>
                <a:ea typeface="Consolas" pitchFamily="34" charset="-122"/>
                <a:cs typeface="Consolas" pitchFamily="34" charset="-120"/>
              </a:rPr>
              <a:t>abstract class DownloaderBase : IDownloadable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protected static int CalcPct(long rx, long total);</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public abstract Task DownloadAsync(CancellationToken ct);</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a:t>
            </a:r>
            <a:endParaRPr lang="en-US" sz="900" dirty="0"/>
          </a:p>
        </p:txBody>
      </p:sp>
      <p:sp>
        <p:nvSpPr>
          <p:cNvPr id="12" name="Text 10"/>
          <p:cNvSpPr/>
          <p:nvPr/>
        </p:nvSpPr>
        <p:spPr>
          <a:xfrm>
            <a:off x="347472" y="3886200"/>
            <a:ext cx="5577840" cy="45720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DownloaderBase is basically a template class. It handles the shared stuff like calculating the percentage and creating the save folder, but leaves the actual downloading blank for subclasses to fill in. HttpFileDownloader extends it and fills in that blank by connecting to the URL and reading the file in small chunks while reporting progress.</a:t>
            </a:r>
            <a:endParaRPr lang="en-US" sz="1050" dirty="0"/>
          </a:p>
        </p:txBody>
      </p:sp>
      <p:sp>
        <p:nvSpPr>
          <p:cNvPr id="13" name="Text 11"/>
          <p:cNvSpPr/>
          <p:nvPr/>
        </p:nvSpPr>
        <p:spPr>
          <a:xfrm>
            <a:off x="347472" y="4572000"/>
            <a:ext cx="5577840" cy="274320"/>
          </a:xfrm>
          <a:prstGeom prst="rect">
            <a:avLst/>
          </a:prstGeom>
          <a:noFill/>
          <a:ln/>
        </p:spPr>
        <p:txBody>
          <a:bodyPr wrap="square" lIns="0" tIns="0" rIns="0" bIns="0" rtlCol="0" anchor="ctr"/>
          <a:lstStyle/>
          <a:p>
            <a:pPr marL="0" indent="0">
              <a:buNone/>
            </a:pPr>
            <a:r>
              <a:rPr lang="en-US" sz="1050" b="1" dirty="0">
                <a:solidFill>
                  <a:srgbClr val="059669"/>
                </a:solidFill>
                <a:latin typeface="Calibri" pitchFamily="34" charset="0"/>
                <a:ea typeface="Calibri" pitchFamily="34" charset="-122"/>
                <a:cs typeface="Calibri" pitchFamily="34" charset="-120"/>
              </a:rPr>
              <a:t>Concurrency: 3 Downloads at a Time</a:t>
            </a:r>
            <a:endParaRPr lang="en-US" sz="1050" dirty="0"/>
          </a:p>
        </p:txBody>
      </p:sp>
      <p:sp>
        <p:nvSpPr>
          <p:cNvPr id="14" name="Shape 12"/>
          <p:cNvSpPr/>
          <p:nvPr/>
        </p:nvSpPr>
        <p:spPr>
          <a:xfrm>
            <a:off x="347472" y="4864608"/>
            <a:ext cx="5577840" cy="777240"/>
          </a:xfrm>
          <a:prstGeom prst="rect">
            <a:avLst/>
          </a:prstGeom>
          <a:solidFill>
            <a:srgbClr val="1E293B"/>
          </a:solidFill>
          <a:ln w="12700">
            <a:solidFill>
              <a:srgbClr val="334155"/>
            </a:solidFill>
            <a:prstDash val="solid"/>
          </a:ln>
        </p:spPr>
        <p:txBody>
          <a:bodyPr/>
          <a:lstStyle/>
          <a:p>
            <a:endParaRPr lang="en-US"/>
          </a:p>
        </p:txBody>
      </p:sp>
      <p:sp>
        <p:nvSpPr>
          <p:cNvPr id="15" name="Text 13"/>
          <p:cNvSpPr/>
          <p:nvPr/>
        </p:nvSpPr>
        <p:spPr>
          <a:xfrm>
            <a:off x="475488" y="4919472"/>
            <a:ext cx="5349240" cy="667512"/>
          </a:xfrm>
          <a:prstGeom prst="rect">
            <a:avLst/>
          </a:prstGeom>
          <a:noFill/>
          <a:ln/>
        </p:spPr>
        <p:txBody>
          <a:bodyPr wrap="square" lIns="0" tIns="0" rIns="0" bIns="0" rtlCol="0" anchor="t"/>
          <a:lstStyle/>
          <a:p>
            <a:pPr marL="0" indent="0">
              <a:buNone/>
            </a:pPr>
            <a:r>
              <a:rPr lang="en-US" sz="900" dirty="0">
                <a:solidFill>
                  <a:srgbClr val="7DD3FC"/>
                </a:solidFill>
                <a:latin typeface="Consolas" pitchFamily="34" charset="0"/>
                <a:ea typeface="Consolas" pitchFamily="34" charset="-122"/>
                <a:cs typeface="Consolas" pitchFamily="34" charset="-120"/>
              </a:rPr>
              <a:t>SemaphoreSlim _gate = new(3, 3);</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await _gate.WaitAsync(token);  // waits if 3 active</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try { /* download */ } finally { _gate.Release(); }</a:t>
            </a:r>
            <a:endParaRPr lang="en-US" sz="900" dirty="0"/>
          </a:p>
        </p:txBody>
      </p:sp>
      <p:sp>
        <p:nvSpPr>
          <p:cNvPr id="16" name="Text 14"/>
          <p:cNvSpPr/>
          <p:nvPr/>
        </p:nvSpPr>
        <p:spPr>
          <a:xfrm>
            <a:off x="347472" y="5669280"/>
            <a:ext cx="5577840" cy="45720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Only 3 files can download at the same time. If you add more URLs they just wait in line automatically until a slot opens up. The cancel button works by sending a stop signal to every active download and they all stop within milliseconds.</a:t>
            </a:r>
            <a:endParaRPr lang="en-US" sz="1050" dirty="0"/>
          </a:p>
        </p:txBody>
      </p:sp>
      <p:sp>
        <p:nvSpPr>
          <p:cNvPr id="17" name="Text 15"/>
          <p:cNvSpPr/>
          <p:nvPr/>
        </p:nvSpPr>
        <p:spPr>
          <a:xfrm>
            <a:off x="6291072" y="1143000"/>
            <a:ext cx="5577840" cy="256032"/>
          </a:xfrm>
          <a:prstGeom prst="rect">
            <a:avLst/>
          </a:prstGeom>
          <a:noFill/>
          <a:ln/>
        </p:spPr>
        <p:txBody>
          <a:bodyPr wrap="square" lIns="0" tIns="0" rIns="0" bIns="0" rtlCol="0" anchor="ctr"/>
          <a:lstStyle/>
          <a:p>
            <a:pPr marL="0" indent="0">
              <a:buNone/>
            </a:pPr>
            <a:r>
              <a:rPr lang="en-US" sz="1000" b="1" kern="0" spc="200" dirty="0">
                <a:solidFill>
                  <a:srgbClr val="2563EB"/>
                </a:solidFill>
                <a:latin typeface="Calibri" pitchFamily="34" charset="0"/>
                <a:ea typeface="Calibri" pitchFamily="34" charset="-122"/>
                <a:cs typeface="Calibri" pitchFamily="34" charset="-120"/>
              </a:rPr>
              <a:t>LAYER BREAKDOWN</a:t>
            </a:r>
            <a:endParaRPr lang="en-US" sz="1000" dirty="0"/>
          </a:p>
        </p:txBody>
      </p:sp>
      <p:sp>
        <p:nvSpPr>
          <p:cNvPr id="18" name="Shape 16"/>
          <p:cNvSpPr/>
          <p:nvPr/>
        </p:nvSpPr>
        <p:spPr>
          <a:xfrm>
            <a:off x="6291072" y="1508760"/>
            <a:ext cx="5577840" cy="749808"/>
          </a:xfrm>
          <a:prstGeom prst="rect">
            <a:avLst/>
          </a:prstGeom>
          <a:solidFill>
            <a:srgbClr val="FAFAFA"/>
          </a:solidFill>
          <a:ln w="12700">
            <a:solidFill>
              <a:srgbClr val="E2E8F0"/>
            </a:solidFill>
            <a:prstDash val="solid"/>
          </a:ln>
        </p:spPr>
        <p:txBody>
          <a:bodyPr/>
          <a:lstStyle/>
          <a:p>
            <a:endParaRPr lang="en-US"/>
          </a:p>
        </p:txBody>
      </p:sp>
      <p:sp>
        <p:nvSpPr>
          <p:cNvPr id="19" name="Shape 17"/>
          <p:cNvSpPr/>
          <p:nvPr/>
        </p:nvSpPr>
        <p:spPr>
          <a:xfrm>
            <a:off x="6291072" y="1508760"/>
            <a:ext cx="50292" cy="749808"/>
          </a:xfrm>
          <a:prstGeom prst="rect">
            <a:avLst/>
          </a:prstGeom>
          <a:solidFill>
            <a:srgbClr val="2563EB"/>
          </a:solidFill>
          <a:ln w="12700">
            <a:solidFill>
              <a:srgbClr val="2563EB"/>
            </a:solidFill>
            <a:prstDash val="solid"/>
          </a:ln>
        </p:spPr>
        <p:txBody>
          <a:bodyPr/>
          <a:lstStyle/>
          <a:p>
            <a:endParaRPr lang="en-US"/>
          </a:p>
        </p:txBody>
      </p:sp>
      <p:sp>
        <p:nvSpPr>
          <p:cNvPr id="20" name="Text 18"/>
          <p:cNvSpPr/>
          <p:nvPr/>
        </p:nvSpPr>
        <p:spPr>
          <a:xfrm>
            <a:off x="6455664" y="1600200"/>
            <a:ext cx="5349240" cy="256032"/>
          </a:xfrm>
          <a:prstGeom prst="rect">
            <a:avLst/>
          </a:prstGeom>
          <a:noFill/>
          <a:ln/>
        </p:spPr>
        <p:txBody>
          <a:bodyPr wrap="square" lIns="0" tIns="0" rIns="0" bIns="0" rtlCol="0" anchor="ctr"/>
          <a:lstStyle/>
          <a:p>
            <a:pPr marL="0" indent="0">
              <a:buNone/>
            </a:pPr>
            <a:r>
              <a:rPr lang="en-US" sz="1100" b="1" dirty="0">
                <a:solidFill>
                  <a:srgbClr val="0F172A"/>
                </a:solidFill>
                <a:latin typeface="Consolas" pitchFamily="34" charset="0"/>
                <a:ea typeface="Consolas" pitchFamily="34" charset="-122"/>
                <a:cs typeface="Consolas" pitchFamily="34" charset="-120"/>
              </a:rPr>
              <a:t>MainForm</a:t>
            </a:r>
            <a:endParaRPr lang="en-US" sz="1100" dirty="0"/>
          </a:p>
        </p:txBody>
      </p:sp>
      <p:sp>
        <p:nvSpPr>
          <p:cNvPr id="21" name="Text 19"/>
          <p:cNvSpPr/>
          <p:nvPr/>
        </p:nvSpPr>
        <p:spPr>
          <a:xfrm>
            <a:off x="6455664" y="1892808"/>
            <a:ext cx="5321808"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window. Shows the download list, handles button clicks, and refreshes every 250 ms without blocking downloads.</a:t>
            </a:r>
            <a:endParaRPr lang="en-US" sz="950" dirty="0"/>
          </a:p>
        </p:txBody>
      </p:sp>
      <p:sp>
        <p:nvSpPr>
          <p:cNvPr id="22" name="Text 20"/>
          <p:cNvSpPr/>
          <p:nvPr/>
        </p:nvSpPr>
        <p:spPr>
          <a:xfrm>
            <a:off x="8851392" y="2267712"/>
            <a:ext cx="457200" cy="210312"/>
          </a:xfrm>
          <a:prstGeom prst="rect">
            <a:avLst/>
          </a:prstGeom>
          <a:noFill/>
          <a:ln/>
        </p:spPr>
        <p:txBody>
          <a:bodyPr wrap="square" lIns="0" tIns="0" rIns="0" bIns="0" rtlCol="0" anchor="ctr"/>
          <a:lstStyle/>
          <a:p>
            <a:pPr marL="0" indent="0" algn="ctr">
              <a:buNone/>
            </a:pPr>
            <a:r>
              <a:rPr lang="en-US" sz="1100" dirty="0">
                <a:solidFill>
                  <a:srgbClr val="E2E8F0"/>
                </a:solidFill>
              </a:rPr>
              <a:t>↓</a:t>
            </a:r>
            <a:endParaRPr lang="en-US" sz="1100" dirty="0"/>
          </a:p>
        </p:txBody>
      </p:sp>
      <p:sp>
        <p:nvSpPr>
          <p:cNvPr id="23" name="Shape 21"/>
          <p:cNvSpPr/>
          <p:nvPr/>
        </p:nvSpPr>
        <p:spPr>
          <a:xfrm>
            <a:off x="6291072" y="2478024"/>
            <a:ext cx="5577840" cy="749808"/>
          </a:xfrm>
          <a:prstGeom prst="rect">
            <a:avLst/>
          </a:prstGeom>
          <a:solidFill>
            <a:srgbClr val="FAFAFA"/>
          </a:solidFill>
          <a:ln w="12700">
            <a:solidFill>
              <a:srgbClr val="E2E8F0"/>
            </a:solidFill>
            <a:prstDash val="solid"/>
          </a:ln>
        </p:spPr>
        <p:txBody>
          <a:bodyPr/>
          <a:lstStyle/>
          <a:p>
            <a:endParaRPr lang="en-US"/>
          </a:p>
        </p:txBody>
      </p:sp>
      <p:sp>
        <p:nvSpPr>
          <p:cNvPr id="24" name="Shape 22"/>
          <p:cNvSpPr/>
          <p:nvPr/>
        </p:nvSpPr>
        <p:spPr>
          <a:xfrm>
            <a:off x="6291072" y="2478024"/>
            <a:ext cx="50292" cy="749808"/>
          </a:xfrm>
          <a:prstGeom prst="rect">
            <a:avLst/>
          </a:prstGeom>
          <a:solidFill>
            <a:srgbClr val="D97706"/>
          </a:solidFill>
          <a:ln w="12700">
            <a:solidFill>
              <a:srgbClr val="D97706"/>
            </a:solidFill>
            <a:prstDash val="solid"/>
          </a:ln>
        </p:spPr>
        <p:txBody>
          <a:bodyPr/>
          <a:lstStyle/>
          <a:p>
            <a:endParaRPr lang="en-US"/>
          </a:p>
        </p:txBody>
      </p:sp>
      <p:sp>
        <p:nvSpPr>
          <p:cNvPr id="25" name="Text 23"/>
          <p:cNvSpPr/>
          <p:nvPr/>
        </p:nvSpPr>
        <p:spPr>
          <a:xfrm>
            <a:off x="6455664" y="2569464"/>
            <a:ext cx="5349240" cy="256032"/>
          </a:xfrm>
          <a:prstGeom prst="rect">
            <a:avLst/>
          </a:prstGeom>
          <a:noFill/>
          <a:ln/>
        </p:spPr>
        <p:txBody>
          <a:bodyPr wrap="square" lIns="0" tIns="0" rIns="0" bIns="0" rtlCol="0" anchor="ctr"/>
          <a:lstStyle/>
          <a:p>
            <a:pPr marL="0" indent="0">
              <a:buNone/>
            </a:pPr>
            <a:r>
              <a:rPr lang="en-US" sz="1100" b="1" dirty="0">
                <a:solidFill>
                  <a:srgbClr val="0F172A"/>
                </a:solidFill>
                <a:latin typeface="Consolas" pitchFamily="34" charset="0"/>
                <a:ea typeface="Consolas" pitchFamily="34" charset="-122"/>
                <a:cs typeface="Consolas" pitchFamily="34" charset="-120"/>
              </a:rPr>
              <a:t>DownloadQueueManager</a:t>
            </a:r>
            <a:endParaRPr lang="en-US" sz="1100" dirty="0"/>
          </a:p>
        </p:txBody>
      </p:sp>
      <p:sp>
        <p:nvSpPr>
          <p:cNvPr id="26" name="Text 24"/>
          <p:cNvSpPr/>
          <p:nvPr/>
        </p:nvSpPr>
        <p:spPr>
          <a:xfrm>
            <a:off x="6455664" y="2862072"/>
            <a:ext cx="5321808"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brain. Manages the queue, enforces the 3 at a time limit, and signals the UI whenever something changes.</a:t>
            </a:r>
            <a:endParaRPr lang="en-US" sz="950" dirty="0"/>
          </a:p>
        </p:txBody>
      </p:sp>
      <p:sp>
        <p:nvSpPr>
          <p:cNvPr id="27" name="Text 25"/>
          <p:cNvSpPr/>
          <p:nvPr/>
        </p:nvSpPr>
        <p:spPr>
          <a:xfrm>
            <a:off x="8851392" y="3236976"/>
            <a:ext cx="457200" cy="210312"/>
          </a:xfrm>
          <a:prstGeom prst="rect">
            <a:avLst/>
          </a:prstGeom>
          <a:noFill/>
          <a:ln/>
        </p:spPr>
        <p:txBody>
          <a:bodyPr wrap="square" lIns="0" tIns="0" rIns="0" bIns="0" rtlCol="0" anchor="ctr"/>
          <a:lstStyle/>
          <a:p>
            <a:pPr marL="0" indent="0" algn="ctr">
              <a:buNone/>
            </a:pPr>
            <a:r>
              <a:rPr lang="en-US" sz="1100" dirty="0">
                <a:solidFill>
                  <a:srgbClr val="E2E8F0"/>
                </a:solidFill>
              </a:rPr>
              <a:t>↓</a:t>
            </a:r>
            <a:endParaRPr lang="en-US" sz="1100" dirty="0"/>
          </a:p>
        </p:txBody>
      </p:sp>
      <p:sp>
        <p:nvSpPr>
          <p:cNvPr id="28" name="Shape 26"/>
          <p:cNvSpPr/>
          <p:nvPr/>
        </p:nvSpPr>
        <p:spPr>
          <a:xfrm>
            <a:off x="6291072" y="3447288"/>
            <a:ext cx="5577840" cy="749808"/>
          </a:xfrm>
          <a:prstGeom prst="rect">
            <a:avLst/>
          </a:prstGeom>
          <a:solidFill>
            <a:srgbClr val="FAFAFA"/>
          </a:solidFill>
          <a:ln w="12700">
            <a:solidFill>
              <a:srgbClr val="E2E8F0"/>
            </a:solidFill>
            <a:prstDash val="solid"/>
          </a:ln>
        </p:spPr>
        <p:txBody>
          <a:bodyPr/>
          <a:lstStyle/>
          <a:p>
            <a:endParaRPr lang="en-US"/>
          </a:p>
        </p:txBody>
      </p:sp>
      <p:sp>
        <p:nvSpPr>
          <p:cNvPr id="29" name="Shape 27"/>
          <p:cNvSpPr/>
          <p:nvPr/>
        </p:nvSpPr>
        <p:spPr>
          <a:xfrm>
            <a:off x="6291072" y="3447288"/>
            <a:ext cx="50292" cy="749808"/>
          </a:xfrm>
          <a:prstGeom prst="rect">
            <a:avLst/>
          </a:prstGeom>
          <a:solidFill>
            <a:srgbClr val="059669"/>
          </a:solidFill>
          <a:ln w="12700">
            <a:solidFill>
              <a:srgbClr val="059669"/>
            </a:solidFill>
            <a:prstDash val="solid"/>
          </a:ln>
        </p:spPr>
        <p:txBody>
          <a:bodyPr/>
          <a:lstStyle/>
          <a:p>
            <a:endParaRPr lang="en-US"/>
          </a:p>
        </p:txBody>
      </p:sp>
      <p:sp>
        <p:nvSpPr>
          <p:cNvPr id="30" name="Text 28"/>
          <p:cNvSpPr/>
          <p:nvPr/>
        </p:nvSpPr>
        <p:spPr>
          <a:xfrm>
            <a:off x="6455664" y="3538728"/>
            <a:ext cx="5349240" cy="256032"/>
          </a:xfrm>
          <a:prstGeom prst="rect">
            <a:avLst/>
          </a:prstGeom>
          <a:noFill/>
          <a:ln/>
        </p:spPr>
        <p:txBody>
          <a:bodyPr wrap="square" lIns="0" tIns="0" rIns="0" bIns="0" rtlCol="0" anchor="ctr"/>
          <a:lstStyle/>
          <a:p>
            <a:pPr marL="0" indent="0">
              <a:buNone/>
            </a:pPr>
            <a:r>
              <a:rPr lang="en-US" sz="1100" b="1" dirty="0">
                <a:solidFill>
                  <a:srgbClr val="0F172A"/>
                </a:solidFill>
                <a:latin typeface="Consolas" pitchFamily="34" charset="0"/>
                <a:ea typeface="Consolas" pitchFamily="34" charset="-122"/>
                <a:cs typeface="Consolas" pitchFamily="34" charset="-120"/>
              </a:rPr>
              <a:t>HttpFileDownloader</a:t>
            </a:r>
            <a:endParaRPr lang="en-US" sz="1100" dirty="0"/>
          </a:p>
        </p:txBody>
      </p:sp>
      <p:sp>
        <p:nvSpPr>
          <p:cNvPr id="31" name="Text 29"/>
          <p:cNvSpPr/>
          <p:nvPr/>
        </p:nvSpPr>
        <p:spPr>
          <a:xfrm>
            <a:off x="6455664" y="3831336"/>
            <a:ext cx="5321808"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worker. Opens a connection to each URL, streams the file in pieces, and reports speed and progress the whole time.</a:t>
            </a:r>
            <a:endParaRPr lang="en-US" sz="950" dirty="0"/>
          </a:p>
        </p:txBody>
      </p:sp>
      <p:sp>
        <p:nvSpPr>
          <p:cNvPr id="32" name="Text 30"/>
          <p:cNvSpPr/>
          <p:nvPr/>
        </p:nvSpPr>
        <p:spPr>
          <a:xfrm>
            <a:off x="8851392" y="4206240"/>
            <a:ext cx="457200" cy="210312"/>
          </a:xfrm>
          <a:prstGeom prst="rect">
            <a:avLst/>
          </a:prstGeom>
          <a:noFill/>
          <a:ln/>
        </p:spPr>
        <p:txBody>
          <a:bodyPr wrap="square" lIns="0" tIns="0" rIns="0" bIns="0" rtlCol="0" anchor="ctr"/>
          <a:lstStyle/>
          <a:p>
            <a:pPr marL="0" indent="0" algn="ctr">
              <a:buNone/>
            </a:pPr>
            <a:r>
              <a:rPr lang="en-US" sz="1100" dirty="0">
                <a:solidFill>
                  <a:srgbClr val="E2E8F0"/>
                </a:solidFill>
              </a:rPr>
              <a:t>↓</a:t>
            </a:r>
            <a:endParaRPr lang="en-US" sz="1100" dirty="0"/>
          </a:p>
        </p:txBody>
      </p:sp>
      <p:sp>
        <p:nvSpPr>
          <p:cNvPr id="33" name="Shape 31"/>
          <p:cNvSpPr/>
          <p:nvPr/>
        </p:nvSpPr>
        <p:spPr>
          <a:xfrm>
            <a:off x="6291072" y="4416552"/>
            <a:ext cx="5577840" cy="749808"/>
          </a:xfrm>
          <a:prstGeom prst="rect">
            <a:avLst/>
          </a:prstGeom>
          <a:solidFill>
            <a:srgbClr val="FAFAFA"/>
          </a:solidFill>
          <a:ln w="12700">
            <a:solidFill>
              <a:srgbClr val="E2E8F0"/>
            </a:solidFill>
            <a:prstDash val="solid"/>
          </a:ln>
        </p:spPr>
        <p:txBody>
          <a:bodyPr/>
          <a:lstStyle/>
          <a:p>
            <a:endParaRPr lang="en-US"/>
          </a:p>
        </p:txBody>
      </p:sp>
      <p:sp>
        <p:nvSpPr>
          <p:cNvPr id="34" name="Shape 32"/>
          <p:cNvSpPr/>
          <p:nvPr/>
        </p:nvSpPr>
        <p:spPr>
          <a:xfrm>
            <a:off x="6291072" y="4416552"/>
            <a:ext cx="50292" cy="749808"/>
          </a:xfrm>
          <a:prstGeom prst="rect">
            <a:avLst/>
          </a:prstGeom>
          <a:solidFill>
            <a:srgbClr val="7C3AED"/>
          </a:solidFill>
          <a:ln w="12700">
            <a:solidFill>
              <a:srgbClr val="7C3AED"/>
            </a:solidFill>
            <a:prstDash val="solid"/>
          </a:ln>
        </p:spPr>
        <p:txBody>
          <a:bodyPr/>
          <a:lstStyle/>
          <a:p>
            <a:endParaRPr lang="en-US"/>
          </a:p>
        </p:txBody>
      </p:sp>
      <p:sp>
        <p:nvSpPr>
          <p:cNvPr id="35" name="Text 33"/>
          <p:cNvSpPr/>
          <p:nvPr/>
        </p:nvSpPr>
        <p:spPr>
          <a:xfrm>
            <a:off x="6455664" y="4507992"/>
            <a:ext cx="5349240" cy="256032"/>
          </a:xfrm>
          <a:prstGeom prst="rect">
            <a:avLst/>
          </a:prstGeom>
          <a:noFill/>
          <a:ln/>
        </p:spPr>
        <p:txBody>
          <a:bodyPr wrap="square" lIns="0" tIns="0" rIns="0" bIns="0" rtlCol="0" anchor="ctr"/>
          <a:lstStyle/>
          <a:p>
            <a:pPr marL="0" indent="0">
              <a:buNone/>
            </a:pPr>
            <a:r>
              <a:rPr lang="en-US" sz="1100" b="1" dirty="0">
                <a:solidFill>
                  <a:srgbClr val="0F172A"/>
                </a:solidFill>
                <a:latin typeface="Consolas" pitchFamily="34" charset="0"/>
                <a:ea typeface="Consolas" pitchFamily="34" charset="-122"/>
                <a:cs typeface="Consolas" pitchFamily="34" charset="-120"/>
              </a:rPr>
              <a:t>DownloadItem</a:t>
            </a:r>
            <a:endParaRPr lang="en-US" sz="1100" dirty="0"/>
          </a:p>
        </p:txBody>
      </p:sp>
      <p:sp>
        <p:nvSpPr>
          <p:cNvPr id="36" name="Text 34"/>
          <p:cNvSpPr/>
          <p:nvPr/>
        </p:nvSpPr>
        <p:spPr>
          <a:xfrm>
            <a:off x="6455664" y="4800600"/>
            <a:ext cx="5321808"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data. Keeps track of each URL's status, bytes received, download speed, and any error messages.</a:t>
            </a:r>
            <a:endParaRPr lang="en-US" sz="950" dirty="0"/>
          </a:p>
        </p:txBody>
      </p:sp>
      <p:sp>
        <p:nvSpPr>
          <p:cNvPr id="37" name="Text 35"/>
          <p:cNvSpPr/>
          <p:nvPr/>
        </p:nvSpPr>
        <p:spPr>
          <a:xfrm>
            <a:off x="8851392" y="5175504"/>
            <a:ext cx="457200" cy="210312"/>
          </a:xfrm>
          <a:prstGeom prst="rect">
            <a:avLst/>
          </a:prstGeom>
          <a:noFill/>
          <a:ln/>
        </p:spPr>
        <p:txBody>
          <a:bodyPr wrap="square" lIns="0" tIns="0" rIns="0" bIns="0" rtlCol="0" anchor="ctr"/>
          <a:lstStyle/>
          <a:p>
            <a:pPr marL="0" indent="0" algn="ctr">
              <a:buNone/>
            </a:pPr>
            <a:r>
              <a:rPr lang="en-US" sz="1100" dirty="0">
                <a:solidFill>
                  <a:srgbClr val="E2E8F0"/>
                </a:solidFill>
              </a:rPr>
              <a:t>↓</a:t>
            </a:r>
            <a:endParaRPr lang="en-US" sz="1100" dirty="0"/>
          </a:p>
        </p:txBody>
      </p:sp>
      <p:sp>
        <p:nvSpPr>
          <p:cNvPr id="38" name="Shape 36"/>
          <p:cNvSpPr/>
          <p:nvPr/>
        </p:nvSpPr>
        <p:spPr>
          <a:xfrm>
            <a:off x="6291072" y="5385816"/>
            <a:ext cx="5577840" cy="749808"/>
          </a:xfrm>
          <a:prstGeom prst="rect">
            <a:avLst/>
          </a:prstGeom>
          <a:solidFill>
            <a:srgbClr val="FAFAFA"/>
          </a:solidFill>
          <a:ln w="12700">
            <a:solidFill>
              <a:srgbClr val="E2E8F0"/>
            </a:solidFill>
            <a:prstDash val="solid"/>
          </a:ln>
        </p:spPr>
        <p:txBody>
          <a:bodyPr/>
          <a:lstStyle/>
          <a:p>
            <a:endParaRPr lang="en-US"/>
          </a:p>
        </p:txBody>
      </p:sp>
      <p:sp>
        <p:nvSpPr>
          <p:cNvPr id="39" name="Shape 37"/>
          <p:cNvSpPr/>
          <p:nvPr/>
        </p:nvSpPr>
        <p:spPr>
          <a:xfrm>
            <a:off x="6291072" y="5385816"/>
            <a:ext cx="50292" cy="749808"/>
          </a:xfrm>
          <a:prstGeom prst="rect">
            <a:avLst/>
          </a:prstGeom>
          <a:solidFill>
            <a:srgbClr val="64748B"/>
          </a:solidFill>
          <a:ln w="12700">
            <a:solidFill>
              <a:srgbClr val="64748B"/>
            </a:solidFill>
            <a:prstDash val="solid"/>
          </a:ln>
        </p:spPr>
        <p:txBody>
          <a:bodyPr/>
          <a:lstStyle/>
          <a:p>
            <a:endParaRPr lang="en-US"/>
          </a:p>
        </p:txBody>
      </p:sp>
      <p:sp>
        <p:nvSpPr>
          <p:cNvPr id="40" name="Text 38"/>
          <p:cNvSpPr/>
          <p:nvPr/>
        </p:nvSpPr>
        <p:spPr>
          <a:xfrm>
            <a:off x="6455664" y="5477256"/>
            <a:ext cx="5349240" cy="256032"/>
          </a:xfrm>
          <a:prstGeom prst="rect">
            <a:avLst/>
          </a:prstGeom>
          <a:noFill/>
          <a:ln/>
        </p:spPr>
        <p:txBody>
          <a:bodyPr wrap="square" lIns="0" tIns="0" rIns="0" bIns="0" rtlCol="0" anchor="ctr"/>
          <a:lstStyle/>
          <a:p>
            <a:pPr marL="0" indent="0">
              <a:buNone/>
            </a:pPr>
            <a:r>
              <a:rPr lang="en-US" sz="1100" b="1" dirty="0">
                <a:solidFill>
                  <a:srgbClr val="0F172A"/>
                </a:solidFill>
                <a:latin typeface="Consolas" pitchFamily="34" charset="0"/>
                <a:ea typeface="Consolas" pitchFamily="34" charset="-122"/>
                <a:cs typeface="Consolas" pitchFamily="34" charset="-120"/>
              </a:rPr>
              <a:t>IDownloadable · IProgressReporter</a:t>
            </a:r>
            <a:endParaRPr lang="en-US" sz="1100" dirty="0"/>
          </a:p>
        </p:txBody>
      </p:sp>
      <p:sp>
        <p:nvSpPr>
          <p:cNvPr id="41" name="Text 39"/>
          <p:cNvSpPr/>
          <p:nvPr/>
        </p:nvSpPr>
        <p:spPr>
          <a:xfrm>
            <a:off x="6455664" y="5769864"/>
            <a:ext cx="5321808"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rules. All the layers depend on these two interfaces instead of depending directly on each other.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059669"/>
          </a:solidFill>
          <a:ln w="12700">
            <a:solidFill>
              <a:srgbClr val="059669"/>
            </a:solidFill>
            <a:prstDash val="solid"/>
          </a:ln>
        </p:spPr>
        <p:txBody>
          <a:bodyPr/>
          <a:lstStyle/>
          <a:p>
            <a:endParaRPr lang="en-US"/>
          </a:p>
        </p:txBody>
      </p:sp>
      <p:sp>
        <p:nvSpPr>
          <p:cNvPr id="3" name="Text 1"/>
          <p:cNvSpPr/>
          <p:nvPr/>
        </p:nvSpPr>
        <p:spPr>
          <a:xfrm>
            <a:off x="347472" y="256032"/>
            <a:ext cx="11521440" cy="658368"/>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Live Demo</a:t>
            </a:r>
            <a:endParaRPr lang="en-US" sz="3600" dirty="0"/>
          </a:p>
        </p:txBody>
      </p:sp>
      <p:sp>
        <p:nvSpPr>
          <p:cNvPr id="4" name="Shape 2"/>
          <p:cNvSpPr/>
          <p:nvPr/>
        </p:nvSpPr>
        <p:spPr>
          <a:xfrm>
            <a:off x="347472" y="960120"/>
            <a:ext cx="11521440" cy="16459"/>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347472" y="1188720"/>
            <a:ext cx="566928" cy="566928"/>
          </a:xfrm>
          <a:prstGeom prst="rect">
            <a:avLst/>
          </a:prstGeom>
          <a:solidFill>
            <a:srgbClr val="F1F5F9"/>
          </a:solidFill>
          <a:ln w="12700">
            <a:solidFill>
              <a:srgbClr val="059669"/>
            </a:solidFill>
            <a:prstDash val="solid"/>
          </a:ln>
        </p:spPr>
        <p:txBody>
          <a:bodyPr/>
          <a:lstStyle/>
          <a:p>
            <a:endParaRPr lang="en-US"/>
          </a:p>
        </p:txBody>
      </p:sp>
      <p:sp>
        <p:nvSpPr>
          <p:cNvPr id="6" name="Text 4"/>
          <p:cNvSpPr/>
          <p:nvPr/>
        </p:nvSpPr>
        <p:spPr>
          <a:xfrm>
            <a:off x="347472" y="1188720"/>
            <a:ext cx="566928" cy="566928"/>
          </a:xfrm>
          <a:prstGeom prst="rect">
            <a:avLst/>
          </a:prstGeom>
          <a:noFill/>
          <a:ln/>
        </p:spPr>
        <p:txBody>
          <a:bodyPr wrap="square" lIns="0" tIns="0" rIns="0" bIns="0" rtlCol="0" anchor="ctr"/>
          <a:lstStyle/>
          <a:p>
            <a:pPr marL="0" indent="0" algn="ctr">
              <a:buNone/>
            </a:pPr>
            <a:r>
              <a:rPr lang="en-US" sz="1300" b="1" dirty="0">
                <a:solidFill>
                  <a:srgbClr val="059669"/>
                </a:solidFill>
                <a:latin typeface="Consolas" pitchFamily="34" charset="0"/>
                <a:ea typeface="Consolas" pitchFamily="34" charset="-122"/>
                <a:cs typeface="Consolas" pitchFamily="34" charset="-120"/>
              </a:rPr>
              <a:t>01</a:t>
            </a:r>
            <a:endParaRPr lang="en-US" sz="1300" dirty="0"/>
          </a:p>
        </p:txBody>
      </p:sp>
      <p:sp>
        <p:nvSpPr>
          <p:cNvPr id="7" name="Text 5"/>
          <p:cNvSpPr/>
          <p:nvPr/>
        </p:nvSpPr>
        <p:spPr>
          <a:xfrm>
            <a:off x="1078992" y="1243584"/>
            <a:ext cx="10789920" cy="502920"/>
          </a:xfrm>
          <a:prstGeom prst="rect">
            <a:avLst/>
          </a:prstGeom>
          <a:noFill/>
          <a:ln/>
        </p:spPr>
        <p:txBody>
          <a:bodyPr wrap="square" lIns="0" tIns="0" rIns="0" bIns="0" rtlCol="0" anchor="ctr"/>
          <a:lstStyle/>
          <a:p>
            <a:pPr marL="0" indent="0">
              <a:buNone/>
            </a:pPr>
            <a:r>
              <a:rPr lang="en-US" sz="1500" dirty="0">
                <a:solidFill>
                  <a:srgbClr val="0F172A"/>
                </a:solidFill>
                <a:latin typeface="Calibri" pitchFamily="34" charset="0"/>
                <a:ea typeface="Calibri" pitchFamily="34" charset="-122"/>
                <a:cs typeface="Calibri" pitchFamily="34" charset="-120"/>
              </a:rPr>
              <a:t>I will be pasting 3 test URLs into the URL field</a:t>
            </a:r>
            <a:endParaRPr lang="en-US" sz="1500" dirty="0"/>
          </a:p>
        </p:txBody>
      </p:sp>
      <p:sp>
        <p:nvSpPr>
          <p:cNvPr id="8" name="Shape 6"/>
          <p:cNvSpPr/>
          <p:nvPr/>
        </p:nvSpPr>
        <p:spPr>
          <a:xfrm>
            <a:off x="347472" y="1847088"/>
            <a:ext cx="11521440" cy="10973"/>
          </a:xfrm>
          <a:prstGeom prst="rect">
            <a:avLst/>
          </a:prstGeom>
          <a:solidFill>
            <a:srgbClr val="E2E8F0"/>
          </a:solidFill>
          <a:ln w="12700">
            <a:solidFill>
              <a:srgbClr val="E2E8F0"/>
            </a:solidFill>
            <a:prstDash val="solid"/>
          </a:ln>
        </p:spPr>
        <p:txBody>
          <a:bodyPr/>
          <a:lstStyle/>
          <a:p>
            <a:endParaRPr lang="en-US"/>
          </a:p>
        </p:txBody>
      </p:sp>
      <p:sp>
        <p:nvSpPr>
          <p:cNvPr id="9" name="Shape 7"/>
          <p:cNvSpPr/>
          <p:nvPr/>
        </p:nvSpPr>
        <p:spPr>
          <a:xfrm>
            <a:off x="347472" y="2240280"/>
            <a:ext cx="566928" cy="566928"/>
          </a:xfrm>
          <a:prstGeom prst="rect">
            <a:avLst/>
          </a:prstGeom>
          <a:solidFill>
            <a:srgbClr val="F1F5F9"/>
          </a:solidFill>
          <a:ln w="12700">
            <a:solidFill>
              <a:srgbClr val="059669"/>
            </a:solidFill>
            <a:prstDash val="solid"/>
          </a:ln>
        </p:spPr>
        <p:txBody>
          <a:bodyPr/>
          <a:lstStyle/>
          <a:p>
            <a:endParaRPr lang="en-US"/>
          </a:p>
        </p:txBody>
      </p:sp>
      <p:sp>
        <p:nvSpPr>
          <p:cNvPr id="10" name="Text 8"/>
          <p:cNvSpPr/>
          <p:nvPr/>
        </p:nvSpPr>
        <p:spPr>
          <a:xfrm>
            <a:off x="347472" y="2240280"/>
            <a:ext cx="566928" cy="566928"/>
          </a:xfrm>
          <a:prstGeom prst="rect">
            <a:avLst/>
          </a:prstGeom>
          <a:noFill/>
          <a:ln/>
        </p:spPr>
        <p:txBody>
          <a:bodyPr wrap="square" lIns="0" tIns="0" rIns="0" bIns="0" rtlCol="0" anchor="ctr"/>
          <a:lstStyle/>
          <a:p>
            <a:pPr marL="0" indent="0" algn="ctr">
              <a:buNone/>
            </a:pPr>
            <a:r>
              <a:rPr lang="en-US" sz="1300" b="1" dirty="0">
                <a:solidFill>
                  <a:srgbClr val="059669"/>
                </a:solidFill>
                <a:latin typeface="Consolas" pitchFamily="34" charset="0"/>
                <a:ea typeface="Consolas" pitchFamily="34" charset="-122"/>
                <a:cs typeface="Consolas" pitchFamily="34" charset="-120"/>
              </a:rPr>
              <a:t>02</a:t>
            </a:r>
            <a:endParaRPr lang="en-US" sz="1300" dirty="0"/>
          </a:p>
        </p:txBody>
      </p:sp>
      <p:sp>
        <p:nvSpPr>
          <p:cNvPr id="11" name="Text 9"/>
          <p:cNvSpPr/>
          <p:nvPr/>
        </p:nvSpPr>
        <p:spPr>
          <a:xfrm>
            <a:off x="1078992" y="2295144"/>
            <a:ext cx="10789920" cy="502920"/>
          </a:xfrm>
          <a:prstGeom prst="rect">
            <a:avLst/>
          </a:prstGeom>
          <a:noFill/>
          <a:ln/>
        </p:spPr>
        <p:txBody>
          <a:bodyPr wrap="square" lIns="0" tIns="0" rIns="0" bIns="0" rtlCol="0" anchor="ctr"/>
          <a:lstStyle/>
          <a:p>
            <a:pPr marL="0" indent="0">
              <a:buNone/>
            </a:pPr>
            <a:r>
              <a:rPr lang="en-US" sz="1500" dirty="0">
                <a:solidFill>
                  <a:srgbClr val="0F172A"/>
                </a:solidFill>
                <a:latin typeface="Calibri" pitchFamily="34" charset="0"/>
                <a:ea typeface="Calibri" pitchFamily="34" charset="-122"/>
                <a:cs typeface="Calibri" pitchFamily="34" charset="-120"/>
              </a:rPr>
              <a:t>Click Download</a:t>
            </a:r>
            <a:endParaRPr lang="en-US" sz="1500" dirty="0"/>
          </a:p>
        </p:txBody>
      </p:sp>
      <p:sp>
        <p:nvSpPr>
          <p:cNvPr id="12" name="Shape 10"/>
          <p:cNvSpPr/>
          <p:nvPr/>
        </p:nvSpPr>
        <p:spPr>
          <a:xfrm>
            <a:off x="347472" y="2898648"/>
            <a:ext cx="11521440" cy="10973"/>
          </a:xfrm>
          <a:prstGeom prst="rect">
            <a:avLst/>
          </a:prstGeom>
          <a:solidFill>
            <a:srgbClr val="E2E8F0"/>
          </a:solidFill>
          <a:ln w="12700">
            <a:solidFill>
              <a:srgbClr val="E2E8F0"/>
            </a:solidFill>
            <a:prstDash val="solid"/>
          </a:ln>
        </p:spPr>
        <p:txBody>
          <a:bodyPr/>
          <a:lstStyle/>
          <a:p>
            <a:endParaRPr lang="en-US"/>
          </a:p>
        </p:txBody>
      </p:sp>
      <p:sp>
        <p:nvSpPr>
          <p:cNvPr id="13" name="Shape 11"/>
          <p:cNvSpPr/>
          <p:nvPr/>
        </p:nvSpPr>
        <p:spPr>
          <a:xfrm>
            <a:off x="347472" y="3291840"/>
            <a:ext cx="566928" cy="566928"/>
          </a:xfrm>
          <a:prstGeom prst="rect">
            <a:avLst/>
          </a:prstGeom>
          <a:solidFill>
            <a:srgbClr val="F1F5F9"/>
          </a:solidFill>
          <a:ln w="12700">
            <a:solidFill>
              <a:srgbClr val="059669"/>
            </a:solidFill>
            <a:prstDash val="solid"/>
          </a:ln>
        </p:spPr>
        <p:txBody>
          <a:bodyPr/>
          <a:lstStyle/>
          <a:p>
            <a:endParaRPr lang="en-US"/>
          </a:p>
        </p:txBody>
      </p:sp>
      <p:sp>
        <p:nvSpPr>
          <p:cNvPr id="14" name="Text 12"/>
          <p:cNvSpPr/>
          <p:nvPr/>
        </p:nvSpPr>
        <p:spPr>
          <a:xfrm>
            <a:off x="347472" y="3291840"/>
            <a:ext cx="566928" cy="566928"/>
          </a:xfrm>
          <a:prstGeom prst="rect">
            <a:avLst/>
          </a:prstGeom>
          <a:noFill/>
          <a:ln/>
        </p:spPr>
        <p:txBody>
          <a:bodyPr wrap="square" lIns="0" tIns="0" rIns="0" bIns="0" rtlCol="0" anchor="ctr"/>
          <a:lstStyle/>
          <a:p>
            <a:pPr marL="0" indent="0" algn="ctr">
              <a:buNone/>
            </a:pPr>
            <a:r>
              <a:rPr lang="en-US" sz="1300" b="1" dirty="0">
                <a:solidFill>
                  <a:srgbClr val="059669"/>
                </a:solidFill>
                <a:latin typeface="Consolas" pitchFamily="34" charset="0"/>
                <a:ea typeface="Consolas" pitchFamily="34" charset="-122"/>
                <a:cs typeface="Consolas" pitchFamily="34" charset="-120"/>
              </a:rPr>
              <a:t>03</a:t>
            </a:r>
            <a:endParaRPr lang="en-US" sz="1300" dirty="0"/>
          </a:p>
        </p:txBody>
      </p:sp>
      <p:sp>
        <p:nvSpPr>
          <p:cNvPr id="15" name="Text 13"/>
          <p:cNvSpPr/>
          <p:nvPr/>
        </p:nvSpPr>
        <p:spPr>
          <a:xfrm>
            <a:off x="1078992" y="3346704"/>
            <a:ext cx="10789920" cy="502920"/>
          </a:xfrm>
          <a:prstGeom prst="rect">
            <a:avLst/>
          </a:prstGeom>
          <a:noFill/>
          <a:ln/>
        </p:spPr>
        <p:txBody>
          <a:bodyPr wrap="square" lIns="0" tIns="0" rIns="0" bIns="0" rtlCol="0" anchor="ctr"/>
          <a:lstStyle/>
          <a:p>
            <a:pPr marL="0" indent="0">
              <a:buNone/>
            </a:pPr>
            <a:r>
              <a:rPr lang="en-US" sz="1500" dirty="0">
                <a:solidFill>
                  <a:srgbClr val="0F172A"/>
                </a:solidFill>
                <a:latin typeface="Calibri" pitchFamily="34" charset="0"/>
                <a:ea typeface="Calibri" pitchFamily="34" charset="-122"/>
                <a:cs typeface="Calibri" pitchFamily="34" charset="-120"/>
              </a:rPr>
              <a:t>Watch progress %, MB/s speed, and file size update live every 250 ms</a:t>
            </a:r>
            <a:endParaRPr lang="en-US" sz="1500" dirty="0"/>
          </a:p>
        </p:txBody>
      </p:sp>
      <p:sp>
        <p:nvSpPr>
          <p:cNvPr id="16" name="Shape 14"/>
          <p:cNvSpPr/>
          <p:nvPr/>
        </p:nvSpPr>
        <p:spPr>
          <a:xfrm>
            <a:off x="347472" y="3950208"/>
            <a:ext cx="11521440" cy="10973"/>
          </a:xfrm>
          <a:prstGeom prst="rect">
            <a:avLst/>
          </a:prstGeom>
          <a:solidFill>
            <a:srgbClr val="E2E8F0"/>
          </a:solidFill>
          <a:ln w="12700">
            <a:solidFill>
              <a:srgbClr val="E2E8F0"/>
            </a:solidFill>
            <a:prstDash val="solid"/>
          </a:ln>
        </p:spPr>
        <p:txBody>
          <a:bodyPr/>
          <a:lstStyle/>
          <a:p>
            <a:endParaRPr lang="en-US"/>
          </a:p>
        </p:txBody>
      </p:sp>
      <p:sp>
        <p:nvSpPr>
          <p:cNvPr id="17" name="Shape 15"/>
          <p:cNvSpPr/>
          <p:nvPr/>
        </p:nvSpPr>
        <p:spPr>
          <a:xfrm>
            <a:off x="347472" y="4343400"/>
            <a:ext cx="566928" cy="566928"/>
          </a:xfrm>
          <a:prstGeom prst="rect">
            <a:avLst/>
          </a:prstGeom>
          <a:solidFill>
            <a:srgbClr val="F1F5F9"/>
          </a:solidFill>
          <a:ln w="12700">
            <a:solidFill>
              <a:srgbClr val="059669"/>
            </a:solidFill>
            <a:prstDash val="solid"/>
          </a:ln>
        </p:spPr>
        <p:txBody>
          <a:bodyPr/>
          <a:lstStyle/>
          <a:p>
            <a:endParaRPr lang="en-US"/>
          </a:p>
        </p:txBody>
      </p:sp>
      <p:sp>
        <p:nvSpPr>
          <p:cNvPr id="18" name="Text 16"/>
          <p:cNvSpPr/>
          <p:nvPr/>
        </p:nvSpPr>
        <p:spPr>
          <a:xfrm>
            <a:off x="347472" y="4343400"/>
            <a:ext cx="566928" cy="566928"/>
          </a:xfrm>
          <a:prstGeom prst="rect">
            <a:avLst/>
          </a:prstGeom>
          <a:noFill/>
          <a:ln/>
        </p:spPr>
        <p:txBody>
          <a:bodyPr wrap="square" lIns="0" tIns="0" rIns="0" bIns="0" rtlCol="0" anchor="ctr"/>
          <a:lstStyle/>
          <a:p>
            <a:pPr marL="0" indent="0" algn="ctr">
              <a:buNone/>
            </a:pPr>
            <a:r>
              <a:rPr lang="en-US" sz="1300" b="1" dirty="0">
                <a:solidFill>
                  <a:srgbClr val="059669"/>
                </a:solidFill>
                <a:latin typeface="Consolas" pitchFamily="34" charset="0"/>
                <a:ea typeface="Consolas" pitchFamily="34" charset="-122"/>
                <a:cs typeface="Consolas" pitchFamily="34" charset="-120"/>
              </a:rPr>
              <a:t>04</a:t>
            </a:r>
            <a:endParaRPr lang="en-US" sz="1300" dirty="0"/>
          </a:p>
        </p:txBody>
      </p:sp>
      <p:sp>
        <p:nvSpPr>
          <p:cNvPr id="19" name="Text 17"/>
          <p:cNvSpPr/>
          <p:nvPr/>
        </p:nvSpPr>
        <p:spPr>
          <a:xfrm>
            <a:off x="1078992" y="4398264"/>
            <a:ext cx="10789920" cy="502920"/>
          </a:xfrm>
          <a:prstGeom prst="rect">
            <a:avLst/>
          </a:prstGeom>
          <a:noFill/>
          <a:ln/>
        </p:spPr>
        <p:txBody>
          <a:bodyPr wrap="square" lIns="0" tIns="0" rIns="0" bIns="0" rtlCol="0" anchor="ctr"/>
          <a:lstStyle/>
          <a:p>
            <a:pPr marL="0" indent="0">
              <a:buNone/>
            </a:pPr>
            <a:r>
              <a:rPr lang="en-US" sz="1500" dirty="0">
                <a:solidFill>
                  <a:srgbClr val="0F172A"/>
                </a:solidFill>
                <a:latin typeface="Calibri" pitchFamily="34" charset="0"/>
                <a:ea typeface="Calibri" pitchFamily="34" charset="-122"/>
                <a:cs typeface="Calibri" pitchFamily="34" charset="-120"/>
              </a:rPr>
              <a:t>Hit Cancel All</a:t>
            </a:r>
            <a:endParaRPr lang="en-US" sz="1500" dirty="0"/>
          </a:p>
        </p:txBody>
      </p:sp>
      <p:sp>
        <p:nvSpPr>
          <p:cNvPr id="20" name="Shape 18"/>
          <p:cNvSpPr/>
          <p:nvPr/>
        </p:nvSpPr>
        <p:spPr>
          <a:xfrm>
            <a:off x="347472" y="5001768"/>
            <a:ext cx="11521440" cy="10973"/>
          </a:xfrm>
          <a:prstGeom prst="rect">
            <a:avLst/>
          </a:prstGeom>
          <a:solidFill>
            <a:srgbClr val="E2E8F0"/>
          </a:solidFill>
          <a:ln w="12700">
            <a:solidFill>
              <a:srgbClr val="E2E8F0"/>
            </a:solidFill>
            <a:prstDash val="solid"/>
          </a:ln>
        </p:spPr>
        <p:txBody>
          <a:bodyPr/>
          <a:lstStyle/>
          <a:p>
            <a:endParaRPr lang="en-US"/>
          </a:p>
        </p:txBody>
      </p:sp>
      <p:sp>
        <p:nvSpPr>
          <p:cNvPr id="21" name="Shape 19"/>
          <p:cNvSpPr/>
          <p:nvPr/>
        </p:nvSpPr>
        <p:spPr>
          <a:xfrm>
            <a:off x="347472" y="5394960"/>
            <a:ext cx="566928" cy="566928"/>
          </a:xfrm>
          <a:prstGeom prst="rect">
            <a:avLst/>
          </a:prstGeom>
          <a:solidFill>
            <a:srgbClr val="F1F5F9"/>
          </a:solidFill>
          <a:ln w="12700">
            <a:solidFill>
              <a:srgbClr val="059669"/>
            </a:solidFill>
            <a:prstDash val="solid"/>
          </a:ln>
        </p:spPr>
        <p:txBody>
          <a:bodyPr/>
          <a:lstStyle/>
          <a:p>
            <a:endParaRPr lang="en-US"/>
          </a:p>
        </p:txBody>
      </p:sp>
      <p:sp>
        <p:nvSpPr>
          <p:cNvPr id="22" name="Text 20"/>
          <p:cNvSpPr/>
          <p:nvPr/>
        </p:nvSpPr>
        <p:spPr>
          <a:xfrm>
            <a:off x="347472" y="5394960"/>
            <a:ext cx="566928" cy="566928"/>
          </a:xfrm>
          <a:prstGeom prst="rect">
            <a:avLst/>
          </a:prstGeom>
          <a:noFill/>
          <a:ln/>
        </p:spPr>
        <p:txBody>
          <a:bodyPr wrap="square" lIns="0" tIns="0" rIns="0" bIns="0" rtlCol="0" anchor="ctr"/>
          <a:lstStyle/>
          <a:p>
            <a:pPr marL="0" indent="0" algn="ctr">
              <a:buNone/>
            </a:pPr>
            <a:r>
              <a:rPr lang="en-US" sz="1300" b="1" dirty="0">
                <a:solidFill>
                  <a:srgbClr val="059669"/>
                </a:solidFill>
                <a:latin typeface="Consolas" pitchFamily="34" charset="0"/>
                <a:ea typeface="Consolas" pitchFamily="34" charset="-122"/>
                <a:cs typeface="Consolas" pitchFamily="34" charset="-120"/>
              </a:rPr>
              <a:t>05</a:t>
            </a:r>
            <a:endParaRPr lang="en-US" sz="1300" dirty="0"/>
          </a:p>
        </p:txBody>
      </p:sp>
      <p:sp>
        <p:nvSpPr>
          <p:cNvPr id="23" name="Text 21"/>
          <p:cNvSpPr/>
          <p:nvPr/>
        </p:nvSpPr>
        <p:spPr>
          <a:xfrm>
            <a:off x="1078992" y="5449824"/>
            <a:ext cx="10789920" cy="502920"/>
          </a:xfrm>
          <a:prstGeom prst="rect">
            <a:avLst/>
          </a:prstGeom>
          <a:noFill/>
          <a:ln/>
        </p:spPr>
        <p:txBody>
          <a:bodyPr wrap="square" lIns="0" tIns="0" rIns="0" bIns="0" rtlCol="0" anchor="ctr"/>
          <a:lstStyle/>
          <a:p>
            <a:pPr marL="0" indent="0">
              <a:buNone/>
            </a:pPr>
            <a:r>
              <a:rPr lang="en-US" sz="1500" dirty="0">
                <a:solidFill>
                  <a:srgbClr val="0F172A"/>
                </a:solidFill>
                <a:latin typeface="Calibri" pitchFamily="34" charset="0"/>
                <a:ea typeface="Calibri" pitchFamily="34" charset="-122"/>
                <a:cs typeface="Calibri" pitchFamily="34" charset="-120"/>
              </a:rPr>
              <a:t>Click Clear Done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494</Words>
  <Application>Microsoft Office PowerPoint</Application>
  <PresentationFormat>Widescreen</PresentationFormat>
  <Paragraphs>70</Paragraphs>
  <Slides>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Consolas</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Joel Brisk</cp:lastModifiedBy>
  <cp:revision>3</cp:revision>
  <dcterms:created xsi:type="dcterms:W3CDTF">2026-05-04T03:31:42Z</dcterms:created>
  <dcterms:modified xsi:type="dcterms:W3CDTF">2026-05-05T04:54:48Z</dcterms:modified>
</cp:coreProperties>
</file>